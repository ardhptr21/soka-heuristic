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bf0eeaf0674a45" /><Relationship Type="http://schemas.openxmlformats.org/officeDocument/2006/relationships/extended-properties" Target="/docProps/app.xml" Id="Rd89c9f7a1c514c8c" /><Relationship Type="http://schemas.openxmlformats.org/officeDocument/2006/relationships/officeDocument" Target="/ppt/presentation.xml" Id="R643706a97fce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3aa332430b46c8"/>
  </p:sldMasterIdLst>
  <p:notesMasterIdLst>
    <p:notesMasterId xmlns:r="http://schemas.openxmlformats.org/officeDocument/2006/relationships" r:id="Rdbd351d8ae0b43ce"/>
  </p:notesMasterIdLst>
  <p:sldIdLst>
    <p:sldId xmlns:r="http://schemas.openxmlformats.org/officeDocument/2006/relationships" id="256" r:id="R170f9ba503dd4dc2"/>
    <p:sldId xmlns:r="http://schemas.openxmlformats.org/officeDocument/2006/relationships" id="257" r:id="Rc72f18604c3e4e86"/>
    <p:sldId xmlns:r="http://schemas.openxmlformats.org/officeDocument/2006/relationships" id="258" r:id="R27bf67b31f94403a"/>
    <p:sldId xmlns:r="http://schemas.openxmlformats.org/officeDocument/2006/relationships" id="259" r:id="Raf18c258d5ca47e4"/>
    <p:sldId xmlns:r="http://schemas.openxmlformats.org/officeDocument/2006/relationships" id="260" r:id="Rd097ac8b79f94868"/>
    <p:sldId xmlns:r="http://schemas.openxmlformats.org/officeDocument/2006/relationships" id="261" r:id="R2564a8558cad4100"/>
    <p:sldId xmlns:r="http://schemas.openxmlformats.org/officeDocument/2006/relationships" id="262" r:id="R2025c48b2cdb43fa"/>
    <p:sldId xmlns:r="http://schemas.openxmlformats.org/officeDocument/2006/relationships" id="263" r:id="R5bf5a524921b42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aaeb7ab204104" /><Relationship Type="http://schemas.openxmlformats.org/officeDocument/2006/relationships/slideMaster" Target="/ppt/slideMasters/slideMaster1.xml" Id="Re93aa332430b46c8" /><Relationship Type="http://schemas.openxmlformats.org/officeDocument/2006/relationships/notesMaster" Target="/ppt/notesMasters/notesMaster1.xml" Id="Rdbd351d8ae0b43ce" /><Relationship Type="http://schemas.openxmlformats.org/officeDocument/2006/relationships/presProps" Target="/ppt/presProps.xml" Id="R6a317c16739247d9" /><Relationship Type="http://schemas.openxmlformats.org/officeDocument/2006/relationships/tableStyles" Target="/ppt/tableStyles.xml" Id="Ra3fb4ffba7444b1d" /><Relationship Type="http://schemas.openxmlformats.org/officeDocument/2006/relationships/slide" Target="/ppt/slides/slide1.xml" Id="R170f9ba503dd4dc2" /><Relationship Type="http://schemas.openxmlformats.org/officeDocument/2006/relationships/slide" Target="/ppt/slides/slide2.xml" Id="Rc72f18604c3e4e86" /><Relationship Type="http://schemas.openxmlformats.org/officeDocument/2006/relationships/slide" Target="/ppt/slides/slide3.xml" Id="R27bf67b31f94403a" /><Relationship Type="http://schemas.openxmlformats.org/officeDocument/2006/relationships/slide" Target="/ppt/slides/slide4.xml" Id="Raf18c258d5ca47e4" /><Relationship Type="http://schemas.openxmlformats.org/officeDocument/2006/relationships/slide" Target="/ppt/slides/slide5.xml" Id="Rd097ac8b79f94868" /><Relationship Type="http://schemas.openxmlformats.org/officeDocument/2006/relationships/slide" Target="/ppt/slides/slide6.xml" Id="R2564a8558cad4100" /><Relationship Type="http://schemas.openxmlformats.org/officeDocument/2006/relationships/slide" Target="/ppt/slides/slide7.xml" Id="R2025c48b2cdb43fa" /><Relationship Type="http://schemas.openxmlformats.org/officeDocument/2006/relationships/slide" Target="/ppt/slides/slide8.xml" Id="R5bf5a524921b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18fed668e847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e3ebb84da84254" /><Relationship Type="http://schemas.openxmlformats.org/officeDocument/2006/relationships/notesMaster" Target="/ppt/notesMasters/notesMaster1.xml" Id="Re41efda30b2445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597f7626cb4281" /><Relationship Type="http://schemas.openxmlformats.org/officeDocument/2006/relationships/notesMaster" Target="/ppt/notesMasters/notesMaster1.xml" Id="R533926e9f25a41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8e69f8f18548db" /><Relationship Type="http://schemas.openxmlformats.org/officeDocument/2006/relationships/notesMaster" Target="/ppt/notesMasters/notesMaster1.xml" Id="Re83f7313210c41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837f3e1a3480e" /><Relationship Type="http://schemas.openxmlformats.org/officeDocument/2006/relationships/notesMaster" Target="/ppt/notesMasters/notesMaster1.xml" Id="R91d466fd915047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d12041fbfe4b1d" /><Relationship Type="http://schemas.openxmlformats.org/officeDocument/2006/relationships/notesMaster" Target="/ppt/notesMasters/notesMaster1.xml" Id="R2c37502b721e45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9bc71c87de4511" /><Relationship Type="http://schemas.openxmlformats.org/officeDocument/2006/relationships/notesMaster" Target="/ppt/notesMasters/notesMaster1.xml" Id="R935f592c2e524b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63478a1ee449fc" /><Relationship Type="http://schemas.openxmlformats.org/officeDocument/2006/relationships/notesMaster" Target="/ppt/notesMasters/notesMaster1.xml" Id="Rfb7c7592c33b40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b59b3269a340b7" /><Relationship Type="http://schemas.openxmlformats.org/officeDocument/2006/relationships/notesMaster" Target="/ppt/notesMasters/notesMaster1.xml" Id="R97cb229104044f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 proyek SOKA A_Kelompok 2_Design Project.pdf dan hasil simulasi pada results/summary.csv.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Konfigurasi berasal dari CloudSchedulingSimulation.java dan results/configuration.txt. Infrastruktur virtual berjalan pada satu mesin fisik.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https://github.com/google/cluster-data/blob/master/ClusterData2019.md; https://github.com/google/cluster-data/blob/master/clusterdata_trace_format_v3.proto; workload_source.txt.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algoritma diringkas dari implementasi plan() pada CloudSchedulingSimulation.java. SJF mengurutkan Task berdasarkan length ascending, lalu memilih VM feasible dengan finish time paling awal.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CloudSchedulingSimulation.java, khususnya vmSpecs(), runtime(), dan run(). Nilai biaya adalah parameter simulasi, bukan tarif cloud provider tertentu.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results/summary.csv, baris size=1000. SJF: makespan 48,54 juta detik; Min-Min: 48,96 juta detik; Round Robin: 60,61 juta detik. Biaya SJF 7,96 juta unit.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results/summary.csv untuk ROUND_ROBIN, MIN_MIN, dan MULTI_OBJECTIVE dengan bobot 0,70 pada size 100, 500, dan 1.000.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Kesimpulan dibatasi pada sampel dan parameter simulasi yang digunakan. Tidak boleh ditafsirkan sebagai performa universal pada semua workload atau cloud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1c589f6414c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6033e248d48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901c76e4b43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cb882a24a42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ac94a749040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a146d9f9e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D5507B-D234-4363-9812-BB317019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EBE34A-AA66-49A7-A391-DA541F7B6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E436AED-118C-4B23-A49C-52EF40D04D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98D7C23-C4AC-40D4-BCDF-83F0C938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A827AF-D2DE-47B1-98C3-06B08922F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AABB40C-0797-4A18-BA52-54E0AF1A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D9025C-A915-40B4-B0FD-E21161CE3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3485EE4-9BC8-4101-A913-1A5CAF08D7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50722FC-FD4F-4F52-8AC1-D851163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685BC1-BBDC-4436-9888-D136AF019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9056A7-2BDC-4941-8C80-7DCCDCA8E7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86E954-87C6-47AC-815B-0757E93DA9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62F40D4-39A0-4F8A-955A-D3970D32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139687-7377-47F8-8072-34D905250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EB56FF-3A38-4F23-880B-8B1ABE977A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05a99fdccf4012" /><Relationship Type="http://schemas.openxmlformats.org/officeDocument/2006/relationships/slideLayout" Target="/ppt/slideLayouts/slideLayout1.xml" Id="R124cd5dfe2404c88" /><Relationship Type="http://schemas.openxmlformats.org/officeDocument/2006/relationships/slideLayout" Target="/ppt/slideLayouts/slideLayout2.xml" Id="Rd62c850fdb52485f" /><Relationship Type="http://schemas.openxmlformats.org/officeDocument/2006/relationships/slideLayout" Target="/ppt/slideLayouts/slideLayout3.xml" Id="Rc64a5c5c11bc45aa" /><Relationship Type="http://schemas.openxmlformats.org/officeDocument/2006/relationships/slideLayout" Target="/ppt/slideLayouts/slideLayout4.xml" Id="Rbbd51c0c125b4fbd" /><Relationship Type="http://schemas.openxmlformats.org/officeDocument/2006/relationships/slideLayout" Target="/ppt/slideLayouts/slideLayout5.xml" Id="Rff75cd435643432c" /><Relationship Type="http://schemas.openxmlformats.org/officeDocument/2006/relationships/slideLayout" Target="/ppt/slideLayouts/slideLayout6.xml" Id="Rf7ed1d1a3eb2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4cd5dfe2404c88"/>
    <p:sldLayoutId xmlns:r="http://schemas.openxmlformats.org/officeDocument/2006/relationships" id="2147483650" r:id="Rd62c850fdb52485f"/>
    <p:sldLayoutId xmlns:r="http://schemas.openxmlformats.org/officeDocument/2006/relationships" id="2147483651" r:id="Rc64a5c5c11bc45aa"/>
    <p:sldLayoutId xmlns:r="http://schemas.openxmlformats.org/officeDocument/2006/relationships" id="2147483652" r:id="Rbbd51c0c125b4fbd"/>
    <p:sldLayoutId xmlns:r="http://schemas.openxmlformats.org/officeDocument/2006/relationships" id="2147483653" r:id="Rff75cd435643432c"/>
    <p:sldLayoutId xmlns:r="http://schemas.openxmlformats.org/officeDocument/2006/relationships" id="2147483654" r:id="Rf7ed1d1a3eb2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96e42db8d4ccf" /><Relationship Type="http://schemas.openxmlformats.org/officeDocument/2006/relationships/notesSlide" Target="/ppt/notesSlides/notesSlide1.xml" Id="R812e5a77ead7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93477807c445e" /><Relationship Type="http://schemas.openxmlformats.org/officeDocument/2006/relationships/notesSlide" Target="/ppt/notesSlides/notesSlide2.xml" Id="R5c66abdbdb37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3420c793a494a" /><Relationship Type="http://schemas.openxmlformats.org/officeDocument/2006/relationships/notesSlide" Target="/ppt/notesSlides/notesSlide3.xml" Id="Rf8126dd92c2a42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24b3ad5b54507" /><Relationship Type="http://schemas.openxmlformats.org/officeDocument/2006/relationships/notesSlide" Target="/ppt/notesSlides/notesSlide4.xml" Id="R43971ba11f3447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e1eb1b1864cb8" /><Relationship Type="http://schemas.openxmlformats.org/officeDocument/2006/relationships/notesSlide" Target="/ppt/notesSlides/notesSlide5.xml" Id="R1df94ccca7d64c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d7c22f8c84ebe" /><Relationship Type="http://schemas.openxmlformats.org/officeDocument/2006/relationships/chart" Target="/ppt/slides/charts/chart1.xml" Id="Rd7181e2a02f84a00" /><Relationship Type="http://schemas.openxmlformats.org/officeDocument/2006/relationships/chart" Target="/ppt/slides/charts/chart2.xml" Id="R5d8e84e0c3114200" /><Relationship Type="http://schemas.openxmlformats.org/officeDocument/2006/relationships/notesSlide" Target="/ppt/notesSlides/notesSlide6.xml" Id="R08e6256d183948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d7236679e4d7d" /><Relationship Type="http://schemas.openxmlformats.org/officeDocument/2006/relationships/chart" Target="/ppt/slides/charts/chart3.xml" Id="R61ed0788e1e94ecb" /><Relationship Type="http://schemas.openxmlformats.org/officeDocument/2006/relationships/notesSlide" Target="/ppt/notesSlides/notesSlide7.xml" Id="R836df648a45d45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09520d78e4128" /><Relationship Type="http://schemas.openxmlformats.org/officeDocument/2006/relationships/notesSlide" Target="/ppt/notesSlides/notesSlide8.xml" Id="R77dd144e3c0743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Makespan (juta detik)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Data'!$A$2:$A$7</c:f>
              <c:strCache>
                <c:ptCount val="6"/>
                <c:pt idx="0">
                  <c:v>Round Robin</c:v>
                </c:pt>
                <c:pt idx="1">
                  <c:v>Min-Min</c:v>
                </c:pt>
                <c:pt idx="2">
                  <c:v>SJF</c:v>
                </c:pt>
                <c:pt idx="3">
                  <c:v>Multi 70:30</c:v>
                </c:pt>
                <c:pt idx="4">
                  <c:v>Multi 60:40</c:v>
                </c:pt>
                <c:pt idx="5">
                  <c:v>Multi 50:50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60.61</c:v>
                </c:pt>
                <c:pt idx="1">
                  <c:v>48.96</c:v>
                </c:pt>
                <c:pt idx="2">
                  <c:v>48.54</c:v>
                </c:pt>
                <c:pt idx="3">
                  <c:v>49.43</c:v>
                </c:pt>
                <c:pt idx="4">
                  <c:v>49.41</c:v>
                </c:pt>
                <c:pt idx="5">
                  <c:v>61.41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Biaya (juta unit)</c:v>
          </c:tx>
          <c:spPr>
            <a:solidFill xmlns:a="http://schemas.openxmlformats.org/drawingml/2006/main">
              <a:srgbClr val="ED7D31"/>
            </a:solidFill>
          </c:spPr>
          <c:cat>
            <c:strRef>
              <c:f>'Chart Data'!$A$2:$A$7</c:f>
              <c:strCache>
                <c:ptCount val="6"/>
                <c:pt idx="0">
                  <c:v>Round Robin</c:v>
                </c:pt>
                <c:pt idx="1">
                  <c:v>Min-Min</c:v>
                </c:pt>
                <c:pt idx="2">
                  <c:v>SJF</c:v>
                </c:pt>
                <c:pt idx="3">
                  <c:v>Multi 70:30</c:v>
                </c:pt>
                <c:pt idx="4">
                  <c:v>Multi 60:40</c:v>
                </c:pt>
                <c:pt idx="5">
                  <c:v>Multi 50:50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7.66</c:v>
                </c:pt>
                <c:pt idx="1">
                  <c:v>7.97</c:v>
                </c:pt>
                <c:pt idx="2">
                  <c:v>7.96</c:v>
                </c:pt>
                <c:pt idx="3">
                  <c:v>7.97</c:v>
                </c:pt>
                <c:pt idx="4">
                  <c:v>7.97</c:v>
                </c:pt>
                <c:pt idx="5">
                  <c:v>8.24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Round Robin</c:v>
          </c:tx>
          <c:spPr>
            <a:solidFill xmlns:a="http://schemas.openxmlformats.org/drawingml/2006/main">
              <a:srgbClr val="2F75B5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6.57</c:v>
                </c:pt>
                <c:pt idx="1">
                  <c:v>30.53</c:v>
                </c:pt>
                <c:pt idx="2">
                  <c:v>60.61</c:v>
                </c:pt>
              </c:numCache>
            </c:numRef>
          </c:val>
        </c:ser>
        <c:ser>
          <c:idx val="1"/>
          <c:order val="1"/>
          <c:tx>
            <c:v>Min-Min</c:v>
          </c:tx>
          <c:spPr>
            <a:solidFill xmlns:a="http://schemas.openxmlformats.org/drawingml/2006/main">
              <a:srgbClr val="ED7D31"/>
            </a:solidFill>
          </c:spPr>
          <c:cat>
            <c:numRef>
              <c:f>'Chart Data'!$C$2:$C$4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5.71</c:v>
                </c:pt>
                <c:pt idx="1">
                  <c:v>26.02</c:v>
                </c:pt>
                <c:pt idx="2">
                  <c:v>48.96</c:v>
                </c:pt>
              </c:numCache>
            </c:numRef>
          </c:val>
        </c:ser>
        <c:ser>
          <c:idx val="2"/>
          <c:order val="2"/>
          <c:tx>
            <c:v>SJF</c:v>
          </c:tx>
          <c:spPr>
            <a:solidFill xmlns:a="http://schemas.openxmlformats.org/drawingml/2006/main">
              <a:srgbClr val="A5A5A5"/>
            </a:solidFill>
          </c:spPr>
          <c:cat>
            <c:numRef>
              <c:f>'Chart Data'!$E$2:$E$4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</c:numCache>
            </c:num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5.82</c:v>
                </c:pt>
                <c:pt idx="1">
                  <c:v>25.49</c:v>
                </c:pt>
                <c:pt idx="2">
                  <c:v>48.54</c:v>
                </c:pt>
              </c:numCache>
            </c:numRef>
          </c:val>
        </c:ser>
        <c:ser>
          <c:idx val="3"/>
          <c:order val="3"/>
          <c:tx>
            <c:v>Multi 70:30</c:v>
          </c:tx>
          <c:spPr>
            <a:solidFill xmlns:a="http://schemas.openxmlformats.org/drawingml/2006/main">
              <a:srgbClr val="70AD47"/>
            </a:solidFill>
          </c:spPr>
          <c:cat>
            <c:numRef>
              <c:f>'Chart Data'!$G$2:$G$4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</c:numCache>
            </c:num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5.73</c:v>
                </c:pt>
                <c:pt idx="1">
                  <c:v>26.01</c:v>
                </c:pt>
                <c:pt idx="2">
                  <c:v>49.43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2D67E-7AD0-4A4C-91CB-29956CF3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Simulasi Penjadwalan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3B85C-F362-4191-890D-B53CE04C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CEA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CEAF5"/>
                </a:solidFill>
                <a:latin typeface="Arial"/>
                <a:ea typeface="Arial"/>
                <a:cs typeface="Arial"/>
              </a:rPr>
              <a:t>Perbandingan Round Robin, Min-Min, SJF, dan Multi-objective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F338B-3E3D-4297-96F2-ECAD71A4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7C9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9D8"/>
                </a:solidFill>
                <a:latin typeface="Arial"/>
                <a:ea typeface="Arial"/>
                <a:cs typeface="Arial"/>
              </a:rPr>
              <a:t>CloudSim Plus dengan workload berbasis Google ClusterData2019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295B0-605B-4132-9D82-844A5AB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Kelompok 2 · Design Project</a:t>
            </a:r>
          </a:p>
        </p:txBody>
      </p:sp>
    </p:spTree>
    <p:extLst>
      <p:ext uri="{BB962C8B-B14F-4D97-AF65-F5344CB8AC3E}">
        <p14:creationId xmlns:p14="http://schemas.microsoft.com/office/powerpoint/2010/main" val="584453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D6F94-1F11-4F22-8513-8427A2A0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Rancangan eksperimen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96A55-95AA-47B6-9D30-45D894BF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CloudSim memodelkan infrastruktur secara virtual pada satu mesin fisik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A4250-A148-4753-A165-E03A3F0B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Topologi simulasi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E7F4-2D92-40B7-AA2B-7EE1FB7C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2 datacenter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4 host total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8 VM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VM scheduler: Time Shared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Cloudlet scheduler: Space Shared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E0490-BBD2-45A3-88CF-3829B404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Variasi eksperimen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131FF-7A37-4804-A990-433472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100, 500, dan 1.000 cloudlet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10 seed: 42–51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4 algoritma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3 kombinasi bobot multi-objective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180 run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8D767-E3A5-42BF-9E10-F21744A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Metrik keluaran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831AC-A085-450F-930C-6F9F3769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476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Makespan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Biaya eksekusi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Utilisasi CPU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Throughput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Imbalance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Deadline miss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Budget exceeded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9FA5E-18F9-48F3-8900-FB6508A4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Sumber: hasil simulasi CloudSim Plus, 180 run tervalidasi</a:t>
            </a:r>
          </a:p>
        </p:txBody>
      </p:sp>
    </p:spTree>
    <p:extLst>
      <p:ext uri="{BB962C8B-B14F-4D97-AF65-F5344CB8AC3E}">
        <p14:creationId xmlns:p14="http://schemas.microsoft.com/office/powerpoint/2010/main" val="1096514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1D4A5-CA9D-469C-AB1F-0ED57639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Dari trace ke cloudlet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A808D-BC33-4E16-B38D-2F50E72E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Pipeline input menggunakan sampel bersih dari Google ClusterData2019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EAB15-4478-45AC-A57E-139B8DE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Google ClusterData2019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0606E-98F0-4F5C-943D-93F0C472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SUBMIT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SCHEDULE</a:t>
            </a:r>
          </a:p>
          <a:p xmlns:a="http://schemas.openxmlformats.org/drawingml/2006/main">
            <a:pPr>
              <a:defRPr sz="18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7F8C9-2D59-4B56-8966-BBB4A7E0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71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Penyaringan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95FD8-2D61-42B5-A5CA-CD753A05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86000"/>
            <a:ext cx="209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1.000 task valid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Tidak gagal/terinterupsi</a:t>
            </a:r>
          </a:p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Tepat satu SCHEDULE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474A-E469-4795-944B-52D97E5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71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Transformasi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CB86A-1F65-4B0A-8FF9-492A2D8A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Durasi × 1.000</a:t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CPU → 1/2/4 PE</a:t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Memori → 512/1024/2048/4096 MB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46D69-2E76-4969-8B73-37F2355A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71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C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000"/>
                </a:solidFill>
                <a:latin typeface="Arial"/>
                <a:ea typeface="Arial"/>
                <a:cs typeface="Arial"/>
              </a:rPr>
              <a:t>Input CloudSim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6C83D-987C-45A4-A508-EFA0894F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90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data/workload.csv</a:t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Submission delay</a:t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Cloudlet length</a:t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Kebutuhan PE dan 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3D72E-C23C-481A-963B-577A762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Sampel digunakan karena trace penuh berukuran sangat besar untuk satu mesin lab.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1CE91-34CB-4A11-84B9-E018C89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Sumber trace: Google ClusterData2019 · Transformasi: scripts/download_google_trace_sample.py</a:t>
            </a:r>
          </a:p>
        </p:txBody>
      </p:sp>
    </p:spTree>
    <p:extLst>
      <p:ext uri="{BB962C8B-B14F-4D97-AF65-F5344CB8AC3E}">
        <p14:creationId xmlns:p14="http://schemas.microsoft.com/office/powerpoint/2010/main" val="2111907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988D3-5768-477E-9DE8-34BE8F5D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Cara kerja algoritma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5A66D-0D4A-484E-AC28-0AE808E5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Perbedaan utama terletak pada cara memilih VM untuk setiap cloudlet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19441-CEDF-4E69-9E7E-52ACFB1E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Round Robin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4FCB9-276B-415A-B7F3-4B33ED7A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619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Memilih VM feasible secara bergiliran.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Kelebihan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Sederhana dan cepat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Beban awal tersebar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Keterbatasan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Tidak melihat waktu selesai atau biaya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CA9A0-8A52-4F5A-A1A8-F042A55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Min-Min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2F96F-56D2-4F9F-80E0-C21AFDD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619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Memilih VM dengan estimasi finish time paling kecil.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Kelebihan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Menurunkan makespan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Memanfaatkan VM lebih cepat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Keterbatasan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Tidak langsung mengoptimalkan biaya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E0173-7CD2-4E9C-85B6-6A258DD3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SJF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99043-5047-4B7F-94AD-091E9642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619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Mengurutkan cloudlet dari length terpendek ke terpanjang, lalu memilih VM feasible dengan finish time paling awal.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Kelebihan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Memprioritaskan pekerjaan singkat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Keterbatasan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Pekerjaan panjang dapat menunggu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5487B-1AB3-4A9D-8130-2448826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Multi-objective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191BA-3BEE-41C9-8D38-9016D346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619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Menggabungkan finish time dan biaya: score = wₜ × waktu + w꜀ × biaya.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Bobot diuji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70:30 · 60:40 · 50:50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Kelebihan</a:t>
            </a:r>
          </a:p>
          <a:p xmlns:a="http://schemas.openxmlformats.org/drawingml/2006/main">
            <a:pPr>
              <a:defRPr sz="135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Menyeimbangkan dua tujuan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DB123-48AC-4A9A-864C-55E92D46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Implementasi: metode plan() pada CloudSchedulingSimulation.java</a:t>
            </a:r>
          </a:p>
        </p:txBody>
      </p:sp>
    </p:spTree>
    <p:extLst>
      <p:ext uri="{BB962C8B-B14F-4D97-AF65-F5344CB8AC3E}">
        <p14:creationId xmlns:p14="http://schemas.microsoft.com/office/powerpoint/2010/main" val="2023819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D83F2-EFC9-4A8F-A3FF-5D5AFB84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Konfigurasi VM dan aturan evaluasi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CC7E3-2CB3-481B-8CB5-1389DC43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Parameter ini menentukan kapasitas, biaya, dan metrik yang dihitung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17BEF-7BA8-4A71-AFA0-019F920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19412-9AC3-4D0C-A9B2-4AE1100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429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Small</a:t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1 PE · 1.000 MIPS · 2.048 MB</a:t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Biaya 0,010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Medium</a:t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2 PE · 1.800 MIPS · 4.096 MB</a:t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Biaya 0,018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Large</a:t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4 PE · 2.500 MIPS · 8.192 MB</a:t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Biaya 0,032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53C47-152C-4849-B826-0AD15F2E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Aturan evaluasi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15AD2-DB9D-421E-BA3D-0FC0D32F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361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Runtime = panjang cloudlet ÷ (PE × MIPS)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Makespan = finish terakhir − arrival minimum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Throughput = cloudlet selesai ÷ makespan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Imbalance = (beban maksimum − minimum) ÷ maksimum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Deadline = arrival + 1,5 × length ÷ 3.600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F67D4-9976-443B-AADD-AEA64C2A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69092-2E3D-4988-8CEE-D90F7F5C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Budget = biaya teoretis minimum × 1,20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Run ditandai budget exceeded jika biaya aktual melewati batas tersebut.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03100-EC7E-41DD-A71A-67A11FE5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Implementasi: vmSpecs(), runtime(), dan evaluasi pada run()</a:t>
            </a:r>
          </a:p>
        </p:txBody>
      </p:sp>
    </p:spTree>
    <p:extLst>
      <p:ext uri="{BB962C8B-B14F-4D97-AF65-F5344CB8AC3E}">
        <p14:creationId xmlns:p14="http://schemas.microsoft.com/office/powerpoint/2010/main" val="1067214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F6BE2-1EB5-427B-AADC-DC0B9C59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Hasil utama: 1.000 cloudlet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1558D-2570-4031-83E6-EDCDEA4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SJF menghasilkan makespan terendah pada workload terbesar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5143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181e2a02f84a00"/>
          </a:graphicData>
        </a:graphic>
      </p:graphicFrame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381750" y="1428750"/>
          <a:ext xmlns:a="http://schemas.openxmlformats.org/drawingml/2006/main" cx="5143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8e84e0c311420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8D258-DE3C-4A6C-AB4F-59ABB754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Rata-rata 10 seed · makespan dan biaya diringkas dari results/summary.csv</a:t>
            </a:r>
          </a:p>
        </p:txBody>
      </p:sp>
    </p:spTree>
    <p:extLst>
      <p:ext uri="{BB962C8B-B14F-4D97-AF65-F5344CB8AC3E}">
        <p14:creationId xmlns:p14="http://schemas.microsoft.com/office/powerpoint/2010/main" val="645518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A3821-076F-4F8C-9E8D-D36F7C01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Perbandingan skala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1BBD1-210E-4A0C-95EB-FABFDB7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SJF dan Min-Min menunjukkan waktu selesai terendah saat workload bertambah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ed0788e1e94ec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DD809-EF9D-4625-B637-3493B129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Temuan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EBCC4-0311-4485-90C2-3A3F1B93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SJF menghasilkan makespan terendah pada 500 dan 1.000 cloudlet.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Min-Min tetap kompetitif dan unggul pada workload 100 cloudlet.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Multi-objective 70:30 sangat dekat dengan Min-Min pada workload besar.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• Bobot 50:50 cenderung mengorbankan waktu selesai demi pertimbangan biaya.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F49EC-F53F-498C-B162-F8A3F67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Satuan grafik: juta detik · Nilai adalah rata-rata 10 seed</a:t>
            </a:r>
          </a:p>
        </p:txBody>
      </p:sp>
    </p:spTree>
    <p:extLst>
      <p:ext uri="{BB962C8B-B14F-4D97-AF65-F5344CB8AC3E}">
        <p14:creationId xmlns:p14="http://schemas.microsoft.com/office/powerpoint/2010/main" val="1695343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ED915-7362-4794-941C-3E95B232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Kesimpulan dan batasan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F157B-723A-4CE6-A7F8-80BC6EF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Hasil ini cukup untuk membandingkan strategi pada lingkungan satu mesin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306C8-D826-47E2-AB21-44E0C6A5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Kesimpulan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A5B51-8CAF-483D-8E5A-4B8A382D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SJF menghasilkan makespan terendah pada workload 500 dan 1.000 cloudlet.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Min-Min menghasilkan makespan terendah pada workload 100 cloudlet dan tetap menjadi baseline yang kuat.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Multi-objective 70:30 mempertahankan waktu selesai yang mendekati algoritma terbaik, sambil menyediakan kerangka untuk memasukkan biaya.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Round Robin paling sederhana, tetapi kurang responsif terhadap perbedaan kapasitas VM.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83F8-582D-462A-A550-DA4F2875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Batasan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EAF07-2C7D-4062-A770-531C9A57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381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Trace yang digunakan adalah sampel 1.000 task bersih, bukan seluruh dataset Google.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Eksperimen mensimulasikan datacenter dan VM secara virtual pada satu mesin fisik.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04A"/>
                </a:solidFill>
                <a:latin typeface="Arial"/>
                <a:ea typeface="Arial"/>
                <a:cs typeface="Arial"/>
              </a:rPr>
              <a:t>Nilai biaya, deadline, dan budget adalah asumsi model simulasi.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038DE-3043-49E8-A116-2F0E05BC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Rekomendasi penggunaan: gunakan Min-Min sebagai baseline, SJF sebagai kandidat makespan, dan Multi-objective 70:30 untuk eksperimen biaya-waktu.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BE425-F0A6-4645-BF33-88A081B4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Dokumen sumber: SOKA A_Kelompok 2_Design Project.pdf · Hasil: results/summary.csv</a:t>
            </a:r>
          </a:p>
        </p:txBody>
      </p:sp>
    </p:spTree>
    <p:extLst>
      <p:ext uri="{BB962C8B-B14F-4D97-AF65-F5344CB8AC3E}">
        <p14:creationId xmlns:p14="http://schemas.microsoft.com/office/powerpoint/2010/main" val="1596719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2026-09-30T07:09:15.1030000Z</dcterms:created>
  <dcterms:modified xsi:type="dcterms:W3CDTF">2026-09-30T07:09:15.1030000Z</dcterms:modified>
</coreProperties>
</file>